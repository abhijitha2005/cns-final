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2656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Helvetica"/>
              </a:defRPr>
            </a:pPr>
            <a:r>
              <a:t>SECURE FILE SHARING SYSTEM</a:t>
            </a:r>
          </a:p>
          <a:p>
            <a:pPr>
              <a:spcAft>
                <a:spcPts val="2200"/>
              </a:spcAft>
              <a:defRPr sz="2800" b="1">
                <a:solidFill>
                  <a:srgbClr val="38BDF8"/>
                </a:solidFill>
                <a:latin typeface="Helvetica"/>
              </a:defRPr>
            </a:pPr>
            <a:r>
              <a:t>Using Hill Cipher + DES</a:t>
            </a:r>
          </a:p>
          <a:p>
            <a:pPr>
              <a:spcAft>
                <a:spcPts val="36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PRODUCT: SecureVault</a:t>
            </a:r>
          </a:p>
          <a:p>
            <a:pPr>
              <a:defRPr sz="1700">
                <a:solidFill>
                  <a:srgbClr val="94A3B8"/>
                </a:solidFill>
                <a:latin typeface="Arial"/>
              </a:defRPr>
            </a:pPr>
            <a:r>
              <a:t>B.Tech Computer Science &amp; Engineering Mini-Project</a:t>
            </a:r>
            <a:br/>
            <a:r>
              <a:t>Course: Cryptography &amp; Network Security (CNS) • Classroom Viva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Why Secure File Sharing?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02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83280" cy="301752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38BDF8"/>
                </a:solidFill>
                <a:latin typeface="Helvetica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Single-Layer Vulnerability</a:t>
            </a:r>
          </a:p>
          <a:p>
            <a:pPr>
              <a:defRPr sz="1600">
                <a:solidFill>
                  <a:srgbClr val="CBD5E1"/>
                </a:solidFill>
                <a:latin typeface="Arial"/>
              </a:defRPr>
            </a:pPr>
            <a:r>
              <a:t>Relying on a single cipher creates a single point of failure. If the key or algorithm is compromised, all data is lost.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301752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19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38BDF8"/>
                </a:solidFill>
                <a:latin typeface="Helvetica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Classical Hill Cipher Limit</a:t>
            </a:r>
          </a:p>
          <a:p>
            <a:pPr>
              <a:defRPr sz="1600">
                <a:solidFill>
                  <a:srgbClr val="CBD5E1"/>
                </a:solidFill>
                <a:latin typeface="Arial"/>
              </a:defRPr>
            </a:pPr>
            <a:r>
              <a:t>Classical Hill Cipher is defined over mod 26 (A-Z only). It cannot encrypt binary files (PDFs, images, ZIPs) without data corruption.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383280" cy="301752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74519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38BDF8"/>
                </a:solidFill>
                <a:latin typeface="Helvetica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DES 56-Bit Key Constraint</a:t>
            </a:r>
          </a:p>
          <a:p>
            <a:pPr>
              <a:defRPr sz="1600">
                <a:solidFill>
                  <a:srgbClr val="CBD5E1"/>
                </a:solidFill>
                <a:latin typeface="Arial"/>
              </a:defRPr>
            </a:pPr>
            <a:r>
              <a:t>DES has an effective key length of 56 bits. Exhaustive key search is feasible today with modern GPU computing clusters.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92040"/>
            <a:ext cx="10545775" cy="100584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983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Helvetica"/>
              </a:defRPr>
            </a:pPr>
            <a:r>
              <a:t>OUR APPROACH:  Hill Cipher in Z_256  +  DES-CBC  +  HMAC-SHA256 Integrity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The Challenge vs. SecureVault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03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120640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94A3B8"/>
                </a:solidFill>
                <a:latin typeface="Helvetica"/>
              </a:defRPr>
            </a:pPr>
            <a:r>
              <a:t>THE CHALLENGE</a:t>
            </a:r>
          </a:p>
          <a:p>
            <a:pPr>
              <a:spcAft>
                <a:spcPts val="14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—  Single cipher dependency creates systemic risk</a:t>
            </a:r>
          </a:p>
          <a:p>
            <a:pPr>
              <a:spcAft>
                <a:spcPts val="14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—  Classical Hill Cipher restricted to mod 26 (letters only)</a:t>
            </a:r>
          </a:p>
          <a:p>
            <a:pPr>
              <a:spcAft>
                <a:spcPts val="14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—  Binary files require exact byte-level preservation</a:t>
            </a:r>
          </a:p>
          <a:p>
            <a:pPr>
              <a:spcAft>
                <a:spcPts val="14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—  DES alone is vulnerable to modern exhaustive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91640"/>
            <a:ext cx="5120640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92024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38BDF8"/>
                </a:solidFill>
                <a:latin typeface="Helvetica"/>
              </a:defRPr>
            </a:pPr>
            <a:r>
              <a:t>SECUREVAULT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Hill Cipher extended to Ring Z_256 (handles all 256 bytes)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DES in CBC mode with random 8-byte IV per file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PBKDF2 key derivation (100,000 SHA-256 rounds)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HMAC-SHA256 Encrypt-then-MAC authentication tag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System Architecture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04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600200" cy="29260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417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Helvetica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FILE</a:t>
            </a:r>
          </a:p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Original Bytes</a:t>
            </a:r>
            <a:br/>
            <a:r>
              <a:t>(PDF, JPG, ZIP)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292608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2011680"/>
            <a:ext cx="1600200" cy="29260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2194560"/>
            <a:ext cx="1417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Helvetica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PBKDF2</a:t>
            </a:r>
          </a:p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100k Rounds</a:t>
            </a:r>
            <a:br/>
            <a:r>
              <a:t>HMAC-SHA256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2" y="292608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1600200" cy="29260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1417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Helvetica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HILL</a:t>
            </a:r>
          </a:p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Z_256 Matrix</a:t>
            </a:r>
            <a:br/>
            <a:r>
              <a:t>Layer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292608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11680"/>
            <a:ext cx="1600200" cy="29260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194560"/>
            <a:ext cx="1417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Helvetica"/>
              </a:defRPr>
            </a:pPr>
            <a:r>
              <a:t>04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DES-CBC</a:t>
            </a:r>
          </a:p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Block Cipher</a:t>
            </a:r>
            <a:br/>
            <a:r>
              <a:t>Layer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292608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2011680"/>
            <a:ext cx="1600200" cy="29260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9" y="2194560"/>
            <a:ext cx="1417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Helvetica"/>
              </a:defRPr>
            </a:pPr>
            <a:r>
              <a:t>05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HMAC</a:t>
            </a:r>
          </a:p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Integrity Tag</a:t>
            </a:r>
            <a:br/>
            <a:r>
              <a:t>Encrypt-then-MAC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1" y="292608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2011680"/>
            <a:ext cx="1600200" cy="292608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194560"/>
            <a:ext cx="1417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Helvetica"/>
              </a:defRPr>
            </a:pPr>
            <a:r>
              <a:t>06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.SVAULT</a:t>
            </a:r>
          </a:p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Encrypted</a:t>
            </a:r>
            <a:br/>
            <a:r>
              <a:t>File Container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166360"/>
            <a:ext cx="10545775" cy="777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257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Each stage is completely decoupled and reversible: Decryption validates HMAC → DES Decrypt → Hill Decrypt → Original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KEY DERIVATION &amp; PARTITIONING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Cryptographic Key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05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645920"/>
            <a:ext cx="4297680" cy="777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73736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USER PASSWORD + 16B RANDOM SALT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4231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788920"/>
            <a:ext cx="5212080" cy="82296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88036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Helvetica"/>
              </a:defRPr>
            </a:pPr>
            <a:r>
              <a:t>PBKDF2-HMAC-SHA256 (100,000 Rounds)</a:t>
            </a:r>
            <a:br/>
            <a:r>
              <a:t>Yields 64 Derived Pseudorandom Bytes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977639"/>
            <a:ext cx="3017520" cy="1920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1148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8BDF8"/>
                </a:solidFill>
                <a:latin typeface="Helvetica"/>
              </a:defRPr>
            </a:pPr>
            <a:r>
              <a:t>DES Key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Courier New"/>
              </a:defRPr>
            </a:pPr>
            <a:r>
              <a:t>8 Bytes (64 bits)</a:t>
            </a:r>
          </a:p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56 effective bits</a:t>
            </a:r>
            <a:br/>
            <a:r>
              <a:t>Used in DES-CBC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977639"/>
            <a:ext cx="3017520" cy="1920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1148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8BDF8"/>
                </a:solidFill>
                <a:latin typeface="Helvetica"/>
              </a:defRPr>
            </a:pPr>
            <a:r>
              <a:t>HMAC Key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Courier New"/>
              </a:defRPr>
            </a:pPr>
            <a:r>
              <a:t>32 Bytes (256 bits)</a:t>
            </a:r>
          </a:p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Integrity Authentication</a:t>
            </a:r>
            <a:br/>
            <a:r>
              <a:t>Encrypt-then-MAC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977639"/>
            <a:ext cx="3017520" cy="1920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1148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8BDF8"/>
                </a:solidFill>
                <a:latin typeface="Helvetica"/>
              </a:defRPr>
            </a:pPr>
            <a:r>
              <a:t>Hill Matrix Seed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Courier New"/>
              </a:defRPr>
            </a:pPr>
            <a:r>
              <a:t>4 Bytes (32 bits)</a:t>
            </a:r>
          </a:p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Deterministically builds</a:t>
            </a:r>
            <a:br/>
            <a:r>
              <a:t>Invertible 2x2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LAYER 1: LINEAR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Hill Cipher in Ring Z_256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06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45775" cy="15544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  <a:latin typeface="Courier New"/>
              </a:defRPr>
            </a:pPr>
            <a:r>
              <a:t>C  =  ( P  ×  K^T )  mod  256</a:t>
            </a:r>
          </a:p>
          <a:p>
            <a:pPr algn="ctr">
              <a:defRPr sz="2200">
                <a:solidFill>
                  <a:srgbClr val="FFFFFF"/>
                </a:solidFill>
                <a:latin typeface="Courier New"/>
              </a:defRPr>
            </a:pPr>
            <a:r>
              <a:t>Decryption:  P  =  ( C  ×  (K^-1)^T )  mod  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10545775" cy="24688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657600"/>
            <a:ext cx="9784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Operates directly on 8-bit bytes (0 to 255) rather than 26 alphabet characters.</a:t>
            </a:r>
          </a:p>
          <a:p>
            <a:pPr>
              <a:spcAft>
                <a:spcPts val="1200"/>
              </a:spcAft>
              <a:defRPr sz="2000">
                <a:solidFill>
                  <a:srgbClr val="CBD5E1"/>
                </a:solidFill>
                <a:latin typeface="Arial"/>
              </a:defRPr>
            </a:pPr>
            <a:r>
              <a:t>•  Preserves arbitrary binary file structures (PDF, PNG, ZIP, executables) with 100% byte fidelity.</a:t>
            </a:r>
          </a:p>
          <a:p>
            <a:pPr>
              <a:spcAft>
                <a:spcPts val="1200"/>
              </a:spcAft>
              <a:defRPr sz="2000">
                <a:solidFill>
                  <a:srgbClr val="CBD5E1"/>
                </a:solidFill>
                <a:latin typeface="Arial"/>
              </a:defRPr>
            </a:pPr>
            <a:r>
              <a:t>•  Transforms byte pairs using a 2×2 modular invertible key matrix K in Ring Z_256.</a:t>
            </a:r>
          </a:p>
          <a:p>
            <a:pPr>
              <a:spcAft>
                <a:spcPts val="1200"/>
              </a:spcAft>
              <a:defRPr sz="2000">
                <a:solidFill>
                  <a:srgbClr val="CBD5E1"/>
                </a:solidFill>
                <a:latin typeface="Arial"/>
              </a:defRPr>
            </a:pPr>
            <a:r>
              <a:t>•  Flow:  Plain Bytes  →  Modular Matrix Multiplication  →  Encrypted Intermediate Bytes.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MATHEMATICAL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Hill Cipher Invertibility Condition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07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120640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Invertibility in Z_256</a:t>
            </a:r>
          </a:p>
          <a:p>
            <a:pPr>
              <a:spcAft>
                <a:spcPts val="1600"/>
              </a:spcAft>
              <a:defRPr sz="2800" b="1">
                <a:solidFill>
                  <a:srgbClr val="38BDF8"/>
                </a:solidFill>
                <a:latin typeface="Courier New"/>
              </a:defRPr>
            </a:pPr>
            <a:r>
              <a:t>gcd( det(K), 256 ) = 1</a:t>
            </a:r>
          </a:p>
          <a:p>
            <a:pPr>
              <a:spcAft>
                <a:spcPts val="1400"/>
              </a:spcAft>
              <a:defRPr sz="2000">
                <a:solidFill>
                  <a:srgbClr val="CBD5E1"/>
                </a:solidFill>
                <a:latin typeface="Arial"/>
              </a:defRPr>
            </a:pPr>
            <a:r>
              <a:t>Since 256 = 2^8, its only prime factor is 2.</a:t>
            </a:r>
            <a:br/>
            <a:br/>
            <a:r>
              <a:t>Therefore:</a:t>
            </a:r>
          </a:p>
          <a:p>
            <a:pPr>
              <a:defRPr sz="3200" b="1">
                <a:solidFill>
                  <a:srgbClr val="38BDF8"/>
                </a:solidFill>
                <a:latin typeface="Helvetica"/>
              </a:defRPr>
            </a:pPr>
            <a:r>
              <a:t>det(K) MUST BE ODD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91640"/>
            <a:ext cx="5120640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92024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Guaranteed Odd Construction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ourier New"/>
              </a:defRPr>
            </a:pPr>
            <a:r>
              <a:t>•  Matrix K = [[a, b], [c, d]]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ourier New"/>
              </a:defRPr>
            </a:pPr>
            <a:r>
              <a:t>•  det(K) = (a·d − b·c) mod 256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•  Enforce a, d = ODD (2k + 1)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•  Enforce b, c = EVEN (2m)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ourier New"/>
              </a:defRPr>
            </a:pPr>
            <a:r>
              <a:t>•  det(K) mod 2 = (ODD × ODD) − (EVEN × EVEN)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ourier New"/>
              </a:defRPr>
            </a:pPr>
            <a:r>
              <a:t>•  det(K) mod 2 = 1 − 0 = 1 (Always Odd!)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LAYER 2: BLOCK CIPHER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DES in CBC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08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45775" cy="128016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Helvetica"/>
              </a:defRPr>
            </a:pPr>
            <a:r>
              <a:t>64-Bit Blocks   +   56-Bit Effective Key   +   16 Feistel Rounds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10545775" cy="274320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Arial"/>
              </a:defRPr>
            </a:pPr>
            <a:r>
              <a:t>•  Initialization Vector (IV):  8 cryptographically random bytes generated per file.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rial"/>
              </a:defRPr>
            </a:pPr>
            <a:r>
              <a:t>•  Chaining Formula:  C_0 = IV,   C_i = DES_Encrypt( P_i ⊕ C_{i-1} )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Arial"/>
              </a:defRPr>
            </a:pPr>
            <a:r>
              <a:t>•  Diffusion:  Every ciphertext block depends on all preceding plaintext blocks.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Arial"/>
              </a:defRPr>
            </a:pPr>
            <a:r>
              <a:t>•  PKCS#7 Padding:  Appends 1 to 8 bytes ensuring strict 64-bit block alignment.</a:t>
            </a:r>
          </a:p>
          <a:p>
            <a:pPr>
              <a:spcAft>
                <a:spcPts val="800"/>
              </a:spcAft>
              <a:defRPr sz="1900">
                <a:solidFill>
                  <a:srgbClr val="CBD5E1"/>
                </a:solidFill>
                <a:latin typeface="Arial"/>
              </a:defRPr>
            </a:pPr>
            <a:r>
              <a:t>•  Decryption:  P_i = DES_Decrypt( C_i ) ⊕ C_{i-1}  (Fully reversible &amp; parallelizable).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BLOCK CIPHER MODE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Why CBC Mode Over ECB Mode?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09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120640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94A3B8"/>
                </a:solidFill>
                <a:latin typeface="Helvetica"/>
              </a:defRPr>
            </a:pPr>
            <a:r>
              <a:t>ECB MODE (INSECURE)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  <a:latin typeface="Arial"/>
              </a:defRPr>
            </a:pPr>
            <a:r>
              <a:t>—  Block 1  →  DES  →  Ciphertext 1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  <a:latin typeface="Arial"/>
              </a:defRPr>
            </a:pPr>
            <a:r>
              <a:t>—  Block 2  →  DES  →  Ciphertext 2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  <a:latin typeface="Arial"/>
              </a:defRPr>
            </a:pPr>
            <a:r>
              <a:t>—  Block 3  →  DES  →  Ciphertext 3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  <a:latin typeface="Arial"/>
              </a:defRPr>
            </a:pPr>
            <a:r>
              <a:t>—  Identical plaintext blocks produce identical ciphertext blocks.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  <a:latin typeface="Arial"/>
              </a:defRPr>
            </a:pPr>
            <a:r>
              <a:t>—  Leaks structural file patterns (e.g., the infamous ECB penguin image).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91640"/>
            <a:ext cx="5120640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92024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38BDF8"/>
                </a:solidFill>
                <a:latin typeface="Helvetica"/>
              </a:defRPr>
            </a:pPr>
            <a:r>
              <a:t>CBC MODE (IMPLEMENTED)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✓  Block 1 ⊕ IV  →  DES  →  Ciphertext 1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✓  Block 2 ⊕ Ciphertext 1  →  DES  →  Ciphertext 2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✓  Block 3 ⊕ Ciphertext 2  →  DES  →  Ciphertext 3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✓  Prevents identical plaintext blocks from generating identical ciphertexts.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✓  Completely eliminates structural and frequency patterns.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KEY MANAGEMENT &amp; 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Defense in Depth: Key Derivation &amp;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10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120640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38BDF8"/>
                </a:solidFill>
                <a:latin typeface="Helvetica"/>
              </a:defRPr>
            </a:pPr>
            <a:r>
              <a:t>PBKDF2 (NIST SP 800-132)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•  100,000 Rounds of HMAC-SHA256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•  16-Byte Cryptographically Random Salt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•  Dramatically slows down GPU dictionary &amp; rainbow table attacks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•  No plaintext passwords ever written to disk or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91640"/>
            <a:ext cx="5120640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92024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38BDF8"/>
                </a:solidFill>
                <a:latin typeface="Helvetica"/>
              </a:defRPr>
            </a:pPr>
            <a:r>
              <a:t>HMAC-SHA256 (Encrypt-then-MAC)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•  32-Byte Authenticated Signature Tag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•  Constant-Time Verification (hmac.compare_digest)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•  Stops Bit-Flipping and Tamper Attacks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•  Padding Oracle Defense: HMAC verified before DES unpadding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FILE FORMAT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.svault Binary Container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11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45775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500">
                <a:solidFill>
                  <a:srgbClr val="38BDF8"/>
                </a:solidFill>
                <a:latin typeface="Courier New"/>
              </a:defRPr>
            </a:pPr>
            <a:r>
              <a:t>[ 00..05 ]  SVAULT MAGIC HEADER  6 Bytes        ASCII identifier b'SVAULT'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ourier New"/>
              </a:defRPr>
            </a:pPr>
            <a:r>
              <a:t>[ 06..07 ]  VERSION &amp; FLAGS      2 Bytes        Version 0x01 + reserved flags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ourier New"/>
              </a:defRPr>
            </a:pPr>
            <a:r>
              <a:t>[ 08..23 ]  PBKDF2 SALT          16 Bytes       Cryptographic random salt for key regeneration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ourier New"/>
              </a:defRPr>
            </a:pPr>
            <a:r>
              <a:t>[ 24..31 ]  DES IV               8 Bytes        Random Initialization Vector for CBC mode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ourier New"/>
              </a:defRPr>
            </a:pPr>
            <a:r>
              <a:t>[ 32..36 ]  HILL MATRIX          5 Bytes        Matrix dimension (2) + coefficients a, b, c, d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ourier New"/>
              </a:defRPr>
            </a:pPr>
            <a:r>
              <a:t>[ 37..46 ]  METADATA             10B + Name     Original file size (uint64) + UTF-8 filename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ourier New"/>
              </a:defRPr>
            </a:pPr>
            <a:r>
              <a:t>[ +00..+n ] DES CIPHERTEXT       8B + Length    PKCS#7 padded ciphertext bytes</a:t>
            </a:r>
          </a:p>
          <a:p>
            <a:pPr>
              <a:spcAft>
                <a:spcPts val="600"/>
              </a:spcAft>
              <a:defRPr sz="1500">
                <a:solidFill>
                  <a:srgbClr val="38BDF8"/>
                </a:solidFill>
                <a:latin typeface="Courier New"/>
              </a:defRPr>
            </a:pPr>
            <a:r>
              <a:t>[ -32..00 ] HMAC-SHA256 TAG      32 Bytes       Integrity signature over all preceding container bytes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CRYPTANALYSIS &amp; ACADEMIC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Important Security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12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45775" cy="118872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DES IS OBSOLETE FOR MODERN PRODUCTION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10545775" cy="28346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9784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CBD5E1"/>
                </a:solidFill>
                <a:latin typeface="Arial"/>
              </a:defRPr>
            </a:pPr>
            <a:r>
              <a:t>•  56-Bit Effective Key: Total keyspace is 2^56 ≈ 7.2 × 10^16 keys.</a:t>
            </a:r>
          </a:p>
          <a:p>
            <a:pPr>
              <a:spcAft>
                <a:spcPts val="1200"/>
              </a:spcAft>
              <a:defRPr sz="2000" b="0">
                <a:solidFill>
                  <a:srgbClr val="CBD5E1"/>
                </a:solidFill>
                <a:latin typeface="Arial"/>
              </a:defRPr>
            </a:pPr>
            <a:r>
              <a:t>•  Vulnerable to Brute-Force: Modern distributed GPU clusters can exhaust the keyspace in hours.</a:t>
            </a:r>
          </a:p>
          <a:p>
            <a:pPr>
              <a:spcAft>
                <a:spcPts val="1200"/>
              </a:spcAft>
              <a:defRPr sz="2000" b="0">
                <a:solidFill>
                  <a:srgbClr val="CBD5E1"/>
                </a:solidFill>
                <a:latin typeface="Arial"/>
              </a:defRPr>
            </a:pPr>
            <a:r>
              <a:t>•  Educational Demonstration: Used here strictly to demonstrate Feistel block chaining alongside Hill Cipher.</a:t>
            </a:r>
          </a:p>
          <a:p>
            <a:pPr>
              <a:spcAft>
                <a:spcPts val="12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•  Modern Production Alternatives: AES-256-GCM (NIST standard) or ChaCha20-Poly1305.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Automated Testing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13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114800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37490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7200" b="1">
                <a:solidFill>
                  <a:srgbClr val="38BDF8"/>
                </a:solidFill>
                <a:latin typeface="Helvetica"/>
              </a:defRPr>
            </a:pPr>
            <a:r>
              <a:t>18</a:t>
            </a:r>
          </a:p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TEST CASES</a:t>
            </a:r>
          </a:p>
          <a:p>
            <a:pPr>
              <a:spcAft>
                <a:spcPts val="0"/>
              </a:spcAft>
              <a:defRPr sz="5400" b="1">
                <a:solidFill>
                  <a:srgbClr val="FFFFFF"/>
                </a:solidFill>
                <a:latin typeface="Helvetica"/>
              </a:defRPr>
            </a:pPr>
            <a:r>
              <a:t>100%</a:t>
            </a:r>
          </a:p>
          <a:p>
            <a:pPr>
              <a:defRPr sz="1800" b="1">
                <a:solidFill>
                  <a:srgbClr val="94A3B8"/>
                </a:solidFill>
                <a:latin typeface="Helvetica"/>
              </a:defRPr>
            </a:pPr>
            <a:r>
              <a:t>ALL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691640"/>
            <a:ext cx="6156655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920240"/>
            <a:ext cx="5669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Plaintext Text File (.txt)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Document Binary File (.pdf)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Image Bitmap File (.png, .jpg)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Compressed Archive (.zip)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Empty File Edge Case (0 Bytes)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Large Binary Payload (1 MB)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Wrong Password Rejection (400 Error)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Tampered Ciphertext Detection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✓  Corrupted Container Protection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FIDELITY &amp;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Cryptographic Hash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14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91640"/>
            <a:ext cx="9448495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0"/>
            <a:ext cx="88998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400" b="1">
                <a:solidFill>
                  <a:srgbClr val="94A3B8"/>
                </a:solidFill>
                <a:latin typeface="Helvetica"/>
              </a:defRPr>
            </a:pPr>
            <a:r>
              <a:t>Original File SHA-256</a:t>
            </a:r>
          </a:p>
          <a:p>
            <a:pPr algn="ctr">
              <a:spcAft>
                <a:spcPts val="1200"/>
              </a:spcAft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==</a:t>
            </a:r>
          </a:p>
          <a:p>
            <a:pPr algn="ctr">
              <a:spcAft>
                <a:spcPts val="2400"/>
              </a:spcAft>
              <a:defRPr sz="2400" b="1">
                <a:solidFill>
                  <a:srgbClr val="94A3B8"/>
                </a:solidFill>
                <a:latin typeface="Helvetica"/>
              </a:defRPr>
            </a:pPr>
            <a:r>
              <a:t>Decrypted File SHA-256</a:t>
            </a:r>
          </a:p>
          <a:p>
            <a:pPr algn="ctr">
              <a:defRPr sz="3400" b="1">
                <a:solidFill>
                  <a:srgbClr val="FFFFFF"/>
                </a:solidFill>
                <a:latin typeface="Helvetica"/>
              </a:defRPr>
            </a:pPr>
            <a:r>
              <a:t>✓  BYTE-FOR-BYTE MATCH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Live Demonstration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15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371600" cy="29260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38BDF8"/>
                </a:solidFill>
                <a:latin typeface="Helvetica"/>
              </a:defRPr>
            </a:pPr>
            <a:r>
              <a:t>1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Upload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2011680"/>
            <a:ext cx="1371600" cy="29260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219456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38BDF8"/>
                </a:solidFill>
                <a:latin typeface="Helvetica"/>
              </a:defRPr>
            </a:pPr>
            <a:r>
              <a:t>2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Set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95344" y="2011680"/>
            <a:ext cx="1371600" cy="29260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6784" y="219456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38BDF8"/>
                </a:solidFill>
                <a:latin typeface="Helvetica"/>
              </a:defRPr>
            </a:pPr>
            <a:r>
              <a:t>3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Hill mod 256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31536" y="2011680"/>
            <a:ext cx="1371600" cy="29260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2976" y="219456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38BDF8"/>
                </a:solidFill>
                <a:latin typeface="Helvetica"/>
              </a:defRPr>
            </a:pPr>
            <a:r>
              <a:t>4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DES-CBC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2011680"/>
            <a:ext cx="1371600" cy="29260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219456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38BDF8"/>
                </a:solidFill>
                <a:latin typeface="Helvetica"/>
              </a:defRPr>
            </a:pPr>
            <a:r>
              <a:t>5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Get .svault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011680"/>
            <a:ext cx="1371600" cy="292608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19456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38BDF8"/>
                </a:solidFill>
                <a:latin typeface="Helvetica"/>
              </a:defRPr>
            </a:pPr>
            <a:r>
              <a:t>6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Decrypt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40112" y="2011680"/>
            <a:ext cx="1371600" cy="292608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31552" y="219456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38BDF8"/>
                </a:solidFill>
                <a:latin typeface="Helvetica"/>
              </a:defRPr>
            </a:pPr>
            <a:r>
              <a:t>7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SHA-256 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166360"/>
            <a:ext cx="10545775" cy="777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8BDF8"/>
                </a:solidFill>
                <a:latin typeface="Courier New"/>
              </a:defRPr>
            </a:pPr>
            <a:r>
              <a:t>Live Terminal Script:  python backend/demo_test.py  →  Instant SHA-256 Verification in front of examiners.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CORE DEFENSE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Viva Examiner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16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45775" cy="4206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9784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WHY RING Z_256?                 →  Binary byte compatibility across all file formats (0..255).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WHY ODD DETERMINANT?            →  gcd(det(K), 256) = 1 is required for modular matrix invertibility.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WHY CBC OVER ECB?               →  Prevents repeated ciphertext blocks; eliminates pattern recognition.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WHY HMAC-SHA256?                →  Provides integrity and authentication; stops bit-flipping attacks.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WHY NOT DES IN PRODUCTION?      →  56-bit effective key length is vulnerable to exhaustive brute force.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SecureVault —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SecureVault   •   Hill Cipher + DES File Security Pipeline</a:t>
            </a:r>
          </a:p>
          <a:p>
            <a:pPr algn="r">
              <a:defRPr sz="1300" b="1">
                <a:solidFill>
                  <a:srgbClr val="38BDF8"/>
                </a:solidFill>
                <a:latin typeface="Arial"/>
              </a:defRPr>
            </a:pPr>
            <a:r>
              <a:t>17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2514600" cy="32918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148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38BDF8"/>
                </a:solidFill>
                <a:latin typeface="Helvetica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Helvetica"/>
              </a:defRPr>
            </a:pPr>
            <a:r>
              <a:t>Binary-Compatible Hill Cipher</a:t>
            </a:r>
          </a:p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Extended linear algebra to Ring Z_256 with guaranteed odd determinant.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91640"/>
            <a:ext cx="2514600" cy="32918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920240"/>
            <a:ext cx="2148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38BDF8"/>
                </a:solidFill>
                <a:latin typeface="Helvetica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Helvetica"/>
              </a:defRPr>
            </a:pPr>
            <a:r>
              <a:t>DES-CBC Layered Defense</a:t>
            </a:r>
          </a:p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Paired linear diffusion with non-linear Feistel block permutation.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2514600" cy="32918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2148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38BDF8"/>
                </a:solidFill>
                <a:latin typeface="Helvetica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Helvetica"/>
              </a:defRPr>
            </a:pPr>
            <a:r>
              <a:t>PBKDF2 + HMAC Integrity</a:t>
            </a:r>
          </a:p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100k-round key derivation and constant-time Encrypt-then-MAC authentication.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691640"/>
            <a:ext cx="2514600" cy="32918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920240"/>
            <a:ext cx="2148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38BDF8"/>
                </a:solidFill>
                <a:latin typeface="Helvetica"/>
              </a:defRPr>
            </a:pPr>
            <a:r>
              <a:t>04</a:t>
            </a:r>
          </a:p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Helvetica"/>
              </a:defRPr>
            </a:pPr>
            <a:r>
              <a:t>Verified 100% Byte Fidelity</a:t>
            </a:r>
          </a:p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Byte-for-byte SHA-256 equality proven across all major file types.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66360"/>
            <a:ext cx="10545775" cy="77724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Educational cryptography with a production-grade, end-to-end working implementation.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31A26"/>
          </a:solidFill>
          <a:ln w="19050">
            <a:solidFill>
              <a:srgbClr val="23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011680"/>
            <a:ext cx="88998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800" b="1">
                <a:solidFill>
                  <a:srgbClr val="FFFFFF"/>
                </a:solidFill>
                <a:latin typeface="Helvetica"/>
              </a:defRPr>
            </a:pPr>
            <a:r>
              <a:t>THANK YOU</a:t>
            </a:r>
          </a:p>
          <a:p>
            <a:pPr algn="ctr">
              <a:spcAft>
                <a:spcPts val="2200"/>
              </a:spcAft>
              <a:defRPr sz="2400" b="1">
                <a:solidFill>
                  <a:srgbClr val="38BDF8"/>
                </a:solidFill>
                <a:latin typeface="Helvetica"/>
              </a:defRPr>
            </a:pPr>
            <a:r>
              <a:t>Questions &amp; Answers</a:t>
            </a:r>
          </a:p>
          <a:p>
            <a:pPr algn="ctr">
              <a:defRPr sz="1700">
                <a:solidFill>
                  <a:srgbClr val="94A3B8"/>
                </a:solidFill>
                <a:latin typeface="Arial"/>
              </a:defRPr>
            </a:pPr>
            <a:r>
              <a:t>SecureVault  •  Secure File Sharing using Hill Cipher + DES</a:t>
            </a:r>
            <a:br/>
            <a:r>
              <a:t>Department of Computer Science &amp;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